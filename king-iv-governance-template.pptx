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4630400" cy="8229600"/>
  <p:notesSz cx="8229600" cy="14630400"/>
  <p:embeddedFontLst>
    <p:embeddedFont>
      <p:font typeface="Crimson Pro Semi Bold"/>
      <p:regular r:id="rId34"/>
    </p:embeddedFont>
    <p:embeddedFont>
      <p:font typeface="Crimson Pro Semi Bold"/>
      <p:regular r:id="rId35"/>
    </p:embeddedFont>
    <p:embeddedFont>
      <p:font typeface="Crimson Pro Semi Bold"/>
      <p:regular r:id="rId36"/>
    </p:embeddedFont>
    <p:embeddedFont>
      <p:font typeface="Crimson Pro Semi Bold"/>
      <p:regular r:id="rId37"/>
    </p:embeddedFont>
    <p:embeddedFont>
      <p:font typeface="Heebo"/>
      <p:regular r:id="rId38"/>
    </p:embeddedFont>
    <p:embeddedFont>
      <p:font typeface="Heebo"/>
      <p:regular r:id="rId3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9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sv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slideLayout" Target="../slideLayouts/slideLayout15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slideLayout" Target="../slideLayouts/slideLayout17.xml"/><Relationship Id="rId11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slideLayout" Target="../slideLayouts/slideLayout19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22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slideLayout" Target="../slideLayouts/slideLayout2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7" Type="http://schemas.openxmlformats.org/officeDocument/2006/relationships/image" Target="../media/image-24-7.png"/><Relationship Id="rId8" Type="http://schemas.openxmlformats.org/officeDocument/2006/relationships/image" Target="../media/image-24-8.svg"/><Relationship Id="rId9" Type="http://schemas.openxmlformats.org/officeDocument/2006/relationships/image" Target="../media/image-24-9.png"/><Relationship Id="rId10" Type="http://schemas.openxmlformats.org/officeDocument/2006/relationships/image" Target="../media/image-24-10.sv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svg"/><Relationship Id="rId13" Type="http://schemas.openxmlformats.org/officeDocument/2006/relationships/slideLayout" Target="../slideLayouts/slideLayout25.xml"/><Relationship Id="rId1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262670"/>
            <a:ext cx="741045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Integrated Governance, Ethical Leadership &amp; Sustainable Value Creation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3652123"/>
            <a:ext cx="766250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King IV Corporate Governance &amp; Risk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4569857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Prepared by: </a:t>
            </a:r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Phumi Mhlongo</a:t>
            </a:r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&amp; </a:t>
            </a:r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Nozipho Memela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3061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Agenda Overview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04752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361849"/>
            <a:ext cx="4215289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5067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Introduction to King IV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207437" y="304752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3361849"/>
            <a:ext cx="4215408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8" name="Text 6"/>
          <p:cNvSpPr/>
          <p:nvPr/>
        </p:nvSpPr>
        <p:spPr>
          <a:xfrm>
            <a:off x="5207437" y="3506748"/>
            <a:ext cx="291095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Apply and Explain Approach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621203" y="304752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21203" y="3361849"/>
            <a:ext cx="4215289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1" name="Text 9"/>
          <p:cNvSpPr/>
          <p:nvPr/>
        </p:nvSpPr>
        <p:spPr>
          <a:xfrm>
            <a:off x="9621203" y="35067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The 17 Principles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93790" y="4164092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4478417"/>
            <a:ext cx="4215289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4" name="Text 12"/>
          <p:cNvSpPr/>
          <p:nvPr/>
        </p:nvSpPr>
        <p:spPr>
          <a:xfrm>
            <a:off x="793790" y="46233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Governance Structures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207437" y="4164092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207437" y="4478417"/>
            <a:ext cx="4215408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7" name="Text 15"/>
          <p:cNvSpPr/>
          <p:nvPr/>
        </p:nvSpPr>
        <p:spPr>
          <a:xfrm>
            <a:off x="5207437" y="46233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Risk &amp; Assurance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621203" y="4164092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06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9621203" y="4478417"/>
            <a:ext cx="4215289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0" name="Text 18"/>
          <p:cNvSpPr/>
          <p:nvPr/>
        </p:nvSpPr>
        <p:spPr>
          <a:xfrm>
            <a:off x="9621203" y="46233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Stakeholder Inclusivity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93790" y="528066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07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93790" y="5594985"/>
            <a:ext cx="4215289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3" name="Text 21"/>
          <p:cNvSpPr/>
          <p:nvPr/>
        </p:nvSpPr>
        <p:spPr>
          <a:xfrm>
            <a:off x="793790" y="57398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Integrated Reporting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5207437" y="528066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08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5207437" y="5594985"/>
            <a:ext cx="4215408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6" name="Text 24"/>
          <p:cNvSpPr/>
          <p:nvPr/>
        </p:nvSpPr>
        <p:spPr>
          <a:xfrm>
            <a:off x="5207437" y="5739884"/>
            <a:ext cx="271260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Implementation Roadmap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621203" y="528066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09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9621203" y="5594985"/>
            <a:ext cx="4215289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9" name="Text 27"/>
          <p:cNvSpPr/>
          <p:nvPr/>
        </p:nvSpPr>
        <p:spPr>
          <a:xfrm>
            <a:off x="9621203" y="57398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Next Steps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76977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King IV Introduction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3790" y="1199436"/>
            <a:ext cx="3633668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Background &amp; Evolution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3790" y="1887141"/>
            <a:ext cx="13042821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King IV (2016) builds on King I, II, and III.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407325"/>
            <a:ext cx="13042821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shifts from King III: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2927509"/>
            <a:ext cx="3140154" cy="1972032"/>
          </a:xfrm>
          <a:prstGeom prst="roundRect">
            <a:avLst>
              <a:gd name="adj" fmla="val 1359"/>
            </a:avLst>
          </a:prstGeom>
          <a:solidFill>
            <a:srgbClr val="F2EEEE"/>
          </a:solidFill>
          <a:ln/>
        </p:spPr>
      </p:sp>
      <p:sp>
        <p:nvSpPr>
          <p:cNvPr id="7" name="Shape 5"/>
          <p:cNvSpPr/>
          <p:nvPr/>
        </p:nvSpPr>
        <p:spPr>
          <a:xfrm>
            <a:off x="972383" y="3106103"/>
            <a:ext cx="535781" cy="535781"/>
          </a:xfrm>
          <a:prstGeom prst="roundRect">
            <a:avLst>
              <a:gd name="adj" fmla="val 17064968"/>
            </a:avLst>
          </a:prstGeom>
          <a:solidFill>
            <a:srgbClr val="2150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9664" y="3253383"/>
            <a:ext cx="241102" cy="241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72383" y="3802618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Apply and Explain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72383" y="4178022"/>
            <a:ext cx="2782967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Move from "Apply or Explain" to "Apply and Explain"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094678" y="2927509"/>
            <a:ext cx="3140154" cy="1972032"/>
          </a:xfrm>
          <a:prstGeom prst="roundRect">
            <a:avLst>
              <a:gd name="adj" fmla="val 1359"/>
            </a:avLst>
          </a:prstGeom>
          <a:solidFill>
            <a:srgbClr val="F2EEEE"/>
          </a:solidFill>
          <a:ln/>
        </p:spPr>
      </p:sp>
      <p:sp>
        <p:nvSpPr>
          <p:cNvPr id="12" name="Shape 9"/>
          <p:cNvSpPr/>
          <p:nvPr/>
        </p:nvSpPr>
        <p:spPr>
          <a:xfrm>
            <a:off x="4273272" y="3106103"/>
            <a:ext cx="535781" cy="535781"/>
          </a:xfrm>
          <a:prstGeom prst="roundRect">
            <a:avLst>
              <a:gd name="adj" fmla="val 17064968"/>
            </a:avLst>
          </a:prstGeom>
          <a:solidFill>
            <a:srgbClr val="2150F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0553" y="3253383"/>
            <a:ext cx="241102" cy="2411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73272" y="3802618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Outcomes Focus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4273272" y="4178022"/>
            <a:ext cx="278296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Stronger emphasis on outcomes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395567" y="2927509"/>
            <a:ext cx="3140154" cy="1972032"/>
          </a:xfrm>
          <a:prstGeom prst="roundRect">
            <a:avLst>
              <a:gd name="adj" fmla="val 1359"/>
            </a:avLst>
          </a:prstGeom>
          <a:solidFill>
            <a:srgbClr val="F2EEEE"/>
          </a:solidFill>
          <a:ln/>
        </p:spPr>
      </p:sp>
      <p:sp>
        <p:nvSpPr>
          <p:cNvPr id="17" name="Shape 13"/>
          <p:cNvSpPr/>
          <p:nvPr/>
        </p:nvSpPr>
        <p:spPr>
          <a:xfrm>
            <a:off x="7574161" y="3106103"/>
            <a:ext cx="535781" cy="535781"/>
          </a:xfrm>
          <a:prstGeom prst="roundRect">
            <a:avLst>
              <a:gd name="adj" fmla="val 17064968"/>
            </a:avLst>
          </a:prstGeom>
          <a:solidFill>
            <a:srgbClr val="2150F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21441" y="3253383"/>
            <a:ext cx="241102" cy="2411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574161" y="3802618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Integrated Thinking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7574161" y="4178022"/>
            <a:ext cx="278296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Integrated thinking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10696456" y="2927509"/>
            <a:ext cx="3140154" cy="1972032"/>
          </a:xfrm>
          <a:prstGeom prst="roundRect">
            <a:avLst>
              <a:gd name="adj" fmla="val 1359"/>
            </a:avLst>
          </a:prstGeom>
          <a:solidFill>
            <a:srgbClr val="F2EEEE"/>
          </a:solidFill>
          <a:ln/>
        </p:spPr>
      </p:sp>
      <p:sp>
        <p:nvSpPr>
          <p:cNvPr id="22" name="Shape 17"/>
          <p:cNvSpPr/>
          <p:nvPr/>
        </p:nvSpPr>
        <p:spPr>
          <a:xfrm>
            <a:off x="10875050" y="3106103"/>
            <a:ext cx="535781" cy="535781"/>
          </a:xfrm>
          <a:prstGeom prst="roundRect">
            <a:avLst>
              <a:gd name="adj" fmla="val 17064968"/>
            </a:avLst>
          </a:prstGeom>
          <a:solidFill>
            <a:srgbClr val="2150F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22330" y="3253383"/>
            <a:ext cx="241102" cy="2411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875050" y="3802618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Stakeholder Inclusivity</a:t>
            </a:r>
            <a:endParaRPr lang="en-US" sz="1750" dirty="0"/>
          </a:p>
        </p:txBody>
      </p:sp>
      <p:sp>
        <p:nvSpPr>
          <p:cNvPr id="25" name="Text 19"/>
          <p:cNvSpPr/>
          <p:nvPr/>
        </p:nvSpPr>
        <p:spPr>
          <a:xfrm>
            <a:off x="10875050" y="4178022"/>
            <a:ext cx="278296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Stakeholder inclusivity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793790" y="5060275"/>
            <a:ext cx="13042821" cy="1700570"/>
          </a:xfrm>
          <a:prstGeom prst="roundRect">
            <a:avLst>
              <a:gd name="adj" fmla="val 1576"/>
            </a:avLst>
          </a:prstGeom>
          <a:solidFill>
            <a:srgbClr val="F2EEEE"/>
          </a:solidFill>
          <a:ln/>
        </p:spPr>
      </p:sp>
      <p:sp>
        <p:nvSpPr>
          <p:cNvPr id="27" name="Shape 21"/>
          <p:cNvSpPr/>
          <p:nvPr/>
        </p:nvSpPr>
        <p:spPr>
          <a:xfrm>
            <a:off x="972383" y="5238869"/>
            <a:ext cx="535781" cy="535781"/>
          </a:xfrm>
          <a:prstGeom prst="roundRect">
            <a:avLst>
              <a:gd name="adj" fmla="val 17064968"/>
            </a:avLst>
          </a:prstGeom>
          <a:solidFill>
            <a:srgbClr val="2150FE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9664" y="5386149"/>
            <a:ext cx="241102" cy="24110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72383" y="5935385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Ethical Foundation</a:t>
            </a:r>
            <a:endParaRPr lang="en-US" sz="1750" dirty="0"/>
          </a:p>
        </p:txBody>
      </p:sp>
      <p:sp>
        <p:nvSpPr>
          <p:cNvPr id="30" name="Text 23"/>
          <p:cNvSpPr/>
          <p:nvPr/>
        </p:nvSpPr>
        <p:spPr>
          <a:xfrm>
            <a:off x="972383" y="6310789"/>
            <a:ext cx="1268563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Ethical leadership as foundation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793790" y="6941701"/>
            <a:ext cx="13042821" cy="710803"/>
          </a:xfrm>
          <a:prstGeom prst="roundRect">
            <a:avLst>
              <a:gd name="adj" fmla="val 3770"/>
            </a:avLst>
          </a:prstGeom>
          <a:solidFill>
            <a:srgbClr val="B3C3F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383" y="7199114"/>
            <a:ext cx="223242" cy="17859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374219" y="7147084"/>
            <a:ext cx="1228379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King IV is principle-based, not rules-based.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8354"/>
            <a:ext cx="582334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Apply and Explain Approach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67727"/>
            <a:ext cx="55391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What "Apply and Explain" Means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93790" y="3740110"/>
            <a:ext cx="695563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Organizations must: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4315658"/>
            <a:ext cx="6955631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Apply all 17 principles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Explain how each principle is implemented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Demonstrate governance outcomes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585698"/>
            <a:ext cx="695563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Focus shifts from compliance to effectiveness.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8098274" y="3561517"/>
            <a:ext cx="5888712" cy="2599730"/>
          </a:xfrm>
          <a:prstGeom prst="roundRect">
            <a:avLst>
              <a:gd name="adj" fmla="val 1145"/>
            </a:avLst>
          </a:prstGeom>
          <a:solidFill>
            <a:srgbClr val="2150FE"/>
          </a:solidFill>
          <a:ln/>
        </p:spPr>
      </p:sp>
      <p:sp>
        <p:nvSpPr>
          <p:cNvPr id="8" name="Text 6"/>
          <p:cNvSpPr/>
          <p:nvPr/>
        </p:nvSpPr>
        <p:spPr>
          <a:xfrm>
            <a:off x="8296632" y="3759875"/>
            <a:ext cx="293834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Outcomes King IV promotes: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296632" y="4268391"/>
            <a:ext cx="5491996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Ethical culture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Good performance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Effective control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Legitimacy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806893"/>
            <a:ext cx="1143595" cy="373142"/>
          </a:xfrm>
          <a:prstGeom prst="roundRect">
            <a:avLst>
              <a:gd name="adj" fmla="val 6383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866424"/>
            <a:ext cx="90547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PRINCIPLE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25933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Ethical Leadership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958703"/>
            <a:ext cx="527827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Ethical and Effective Leadership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93790" y="3752493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governing body should: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93790" y="4372689"/>
            <a:ext cx="3111937" cy="1062752"/>
          </a:xfrm>
          <a:prstGeom prst="roundRect">
            <a:avLst>
              <a:gd name="adj" fmla="val 1032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0930" y="4372689"/>
            <a:ext cx="91440" cy="1062752"/>
          </a:xfrm>
          <a:prstGeom prst="roundRect">
            <a:avLst>
              <a:gd name="adj" fmla="val 32558"/>
            </a:avLst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1083588" y="459390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Lead ethically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104084" y="4372689"/>
            <a:ext cx="3111937" cy="1062752"/>
          </a:xfrm>
          <a:prstGeom prst="roundRect">
            <a:avLst>
              <a:gd name="adj" fmla="val 1032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81224" y="4372689"/>
            <a:ext cx="91440" cy="1062752"/>
          </a:xfrm>
          <a:prstGeom prst="roundRect">
            <a:avLst>
              <a:gd name="adj" fmla="val 32558"/>
            </a:avLst>
          </a:prstGeom>
          <a:solidFill>
            <a:srgbClr val="2150FE"/>
          </a:solidFill>
          <a:ln/>
        </p:spPr>
      </p:sp>
      <p:sp>
        <p:nvSpPr>
          <p:cNvPr id="12" name="Text 10"/>
          <p:cNvSpPr/>
          <p:nvPr/>
        </p:nvSpPr>
        <p:spPr>
          <a:xfrm>
            <a:off x="4393883" y="4593908"/>
            <a:ext cx="260092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Act in the best interests of the organization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414379" y="4372689"/>
            <a:ext cx="3111937" cy="1062752"/>
          </a:xfrm>
          <a:prstGeom prst="roundRect">
            <a:avLst>
              <a:gd name="adj" fmla="val 1032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1519" y="4372689"/>
            <a:ext cx="91440" cy="1062752"/>
          </a:xfrm>
          <a:prstGeom prst="roundRect">
            <a:avLst>
              <a:gd name="adj" fmla="val 32558"/>
            </a:avLst>
          </a:prstGeom>
          <a:solidFill>
            <a:srgbClr val="2150FE"/>
          </a:solidFill>
          <a:ln/>
        </p:spPr>
      </p:sp>
      <p:sp>
        <p:nvSpPr>
          <p:cNvPr id="15" name="Text 13"/>
          <p:cNvSpPr/>
          <p:nvPr/>
        </p:nvSpPr>
        <p:spPr>
          <a:xfrm>
            <a:off x="7704177" y="4593908"/>
            <a:ext cx="260092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Exercise independent judgment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724674" y="4372689"/>
            <a:ext cx="3111937" cy="1062752"/>
          </a:xfrm>
          <a:prstGeom prst="roundRect">
            <a:avLst>
              <a:gd name="adj" fmla="val 1032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01814" y="4372689"/>
            <a:ext cx="91440" cy="1062752"/>
          </a:xfrm>
          <a:prstGeom prst="roundRect">
            <a:avLst>
              <a:gd name="adj" fmla="val 32558"/>
            </a:avLst>
          </a:prstGeom>
          <a:solidFill>
            <a:srgbClr val="2150FE"/>
          </a:solidFill>
          <a:ln/>
        </p:spPr>
      </p:sp>
      <p:sp>
        <p:nvSpPr>
          <p:cNvPr id="18" name="Text 16"/>
          <p:cNvSpPr/>
          <p:nvPr/>
        </p:nvSpPr>
        <p:spPr>
          <a:xfrm>
            <a:off x="11014472" y="4593908"/>
            <a:ext cx="260092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Demonstrate integrity and accountability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91446" y="5881926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Tone at the top determines culture.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93790" y="5658683"/>
            <a:ext cx="22860" cy="764024"/>
          </a:xfrm>
          <a:prstGeom prst="rect">
            <a:avLst/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45964"/>
            <a:ext cx="1143595" cy="373142"/>
          </a:xfrm>
          <a:prstGeom prst="roundRect">
            <a:avLst>
              <a:gd name="adj" fmla="val 6383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105495"/>
            <a:ext cx="90547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PRINCIPLE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49840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Organizational Ethics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197775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Governing Ethics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93790" y="2991564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governing body should ensure:</a:t>
            </a:r>
            <a:endParaRPr lang="en-US" sz="1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611761"/>
            <a:ext cx="496133" cy="49613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3790" y="4355902"/>
            <a:ext cx="285702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Ethical culture is embedded</a:t>
            </a:r>
            <a:endParaRPr lang="en-US" sz="1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9144" y="3611761"/>
            <a:ext cx="496133" cy="4961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39144" y="4355902"/>
            <a:ext cx="307157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Codes of conduct are enforced</a:t>
            </a:r>
            <a:endParaRPr lang="en-US" sz="1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062895"/>
            <a:ext cx="496133" cy="49613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3790" y="5807035"/>
            <a:ext cx="353687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Whistleblowing mechanisms exist</a:t>
            </a:r>
            <a:endParaRPr lang="en-US" sz="1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9144" y="5062895"/>
            <a:ext cx="496133" cy="4961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39144" y="5807035"/>
            <a:ext cx="313134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Ethical breaches are addressed</a:t>
            </a:r>
            <a:endParaRPr lang="en-US" sz="1950" dirty="0"/>
          </a:p>
        </p:txBody>
      </p:sp>
      <p:sp>
        <p:nvSpPr>
          <p:cNvPr id="15" name="Shape 9"/>
          <p:cNvSpPr/>
          <p:nvPr/>
        </p:nvSpPr>
        <p:spPr>
          <a:xfrm>
            <a:off x="793790" y="6340435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B3C3FF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148" y="6628090"/>
            <a:ext cx="248007" cy="19835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38513" y="6588323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Ethics must be operational, not symbolic.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71531"/>
            <a:ext cx="1143595" cy="373142"/>
          </a:xfrm>
          <a:prstGeom prst="roundRect">
            <a:avLst>
              <a:gd name="adj" fmla="val 6383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831062"/>
            <a:ext cx="90547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PRINCIPLE 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223968"/>
            <a:ext cx="709469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Responsible Corporate Citizenship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923342"/>
            <a:ext cx="4207907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Triple Context Awareness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93790" y="3717131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Organizations must operate responsibly within: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93790" y="4337328"/>
            <a:ext cx="4215289" cy="1500545"/>
          </a:xfrm>
          <a:prstGeom prst="roundRect">
            <a:avLst>
              <a:gd name="adj" fmla="val 1984"/>
            </a:avLst>
          </a:prstGeom>
          <a:solidFill>
            <a:srgbClr val="F2EEEE"/>
          </a:solidFill>
          <a:ln/>
        </p:spPr>
      </p:sp>
      <p:sp>
        <p:nvSpPr>
          <p:cNvPr id="8" name="Shape 6"/>
          <p:cNvSpPr/>
          <p:nvPr/>
        </p:nvSpPr>
        <p:spPr>
          <a:xfrm>
            <a:off x="992148" y="4535686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2150F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9" y="4699278"/>
            <a:ext cx="267891" cy="26789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92148" y="53293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The Economy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5207437" y="4337328"/>
            <a:ext cx="4215408" cy="1500545"/>
          </a:xfrm>
          <a:prstGeom prst="roundRect">
            <a:avLst>
              <a:gd name="adj" fmla="val 1984"/>
            </a:avLst>
          </a:prstGeom>
          <a:solidFill>
            <a:srgbClr val="F2EEEE"/>
          </a:solidFill>
          <a:ln/>
        </p:spPr>
      </p:sp>
      <p:sp>
        <p:nvSpPr>
          <p:cNvPr id="12" name="Shape 9"/>
          <p:cNvSpPr/>
          <p:nvPr/>
        </p:nvSpPr>
        <p:spPr>
          <a:xfrm>
            <a:off x="5405795" y="4535686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2150F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9506" y="4699278"/>
            <a:ext cx="267891" cy="2678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05795" y="53293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Society</a:t>
            </a:r>
            <a:endParaRPr lang="en-US" sz="1950" dirty="0"/>
          </a:p>
        </p:txBody>
      </p:sp>
      <p:sp>
        <p:nvSpPr>
          <p:cNvPr id="15" name="Shape 11"/>
          <p:cNvSpPr/>
          <p:nvPr/>
        </p:nvSpPr>
        <p:spPr>
          <a:xfrm>
            <a:off x="9621203" y="4337328"/>
            <a:ext cx="4215289" cy="1500545"/>
          </a:xfrm>
          <a:prstGeom prst="roundRect">
            <a:avLst>
              <a:gd name="adj" fmla="val 1984"/>
            </a:avLst>
          </a:prstGeom>
          <a:solidFill>
            <a:srgbClr val="F2EEEE"/>
          </a:solidFill>
          <a:ln/>
        </p:spPr>
      </p:sp>
      <p:sp>
        <p:nvSpPr>
          <p:cNvPr id="16" name="Shape 12"/>
          <p:cNvSpPr/>
          <p:nvPr/>
        </p:nvSpPr>
        <p:spPr>
          <a:xfrm>
            <a:off x="9819561" y="4535686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2150F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83272" y="4699278"/>
            <a:ext cx="267891" cy="2678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19561" y="53293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The Environment</a:t>
            </a:r>
            <a:endParaRPr lang="en-US" sz="1950" dirty="0"/>
          </a:p>
        </p:txBody>
      </p:sp>
      <p:sp>
        <p:nvSpPr>
          <p:cNvPr id="19" name="Text 14"/>
          <p:cNvSpPr/>
          <p:nvPr/>
        </p:nvSpPr>
        <p:spPr>
          <a:xfrm>
            <a:off x="793790" y="6061115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Corporate citizenship extends beyond legal compliance.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81038"/>
            <a:ext cx="1086207" cy="348377"/>
          </a:xfrm>
          <a:prstGeom prst="roundRect">
            <a:avLst>
              <a:gd name="adj" fmla="val 6495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906899" y="737592"/>
            <a:ext cx="859988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PRINCIPLE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93790" y="1100971"/>
            <a:ext cx="4713684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Value Creation Model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93790" y="1761649"/>
            <a:ext cx="3770948" cy="471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Integrated Thinking</a:t>
            </a:r>
            <a:endParaRPr lang="en-US" sz="2950" dirty="0"/>
          </a:p>
        </p:txBody>
      </p:sp>
      <p:sp>
        <p:nvSpPr>
          <p:cNvPr id="6" name="Text 4"/>
          <p:cNvSpPr/>
          <p:nvPr/>
        </p:nvSpPr>
        <p:spPr>
          <a:xfrm>
            <a:off x="793790" y="2501503"/>
            <a:ext cx="13042821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Integrated thinking means: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93790" y="3070622"/>
            <a:ext cx="13042821" cy="100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Strategy considers financial and non-financial capital</a:t>
            </a:r>
            <a:endParaRPr lang="en-US" sz="14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Decisions consider long-term sustainability</a:t>
            </a:r>
            <a:endParaRPr lang="en-US" sz="14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Value is created over time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3790" y="4279940"/>
            <a:ext cx="13042821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Capital categories may include: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93790" y="5131832"/>
            <a:ext cx="3126343" cy="977384"/>
          </a:xfrm>
          <a:prstGeom prst="roundRect">
            <a:avLst>
              <a:gd name="adj" fmla="val 1122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93790" y="5108972"/>
            <a:ext cx="3126343" cy="91440"/>
          </a:xfrm>
          <a:prstGeom prst="roundRect">
            <a:avLst>
              <a:gd name="adj" fmla="val 30930"/>
            </a:avLst>
          </a:prstGeom>
          <a:solidFill>
            <a:srgbClr val="2150FE"/>
          </a:solidFill>
          <a:ln/>
        </p:spPr>
      </p:sp>
      <p:sp>
        <p:nvSpPr>
          <p:cNvPr id="11" name="Shape 9"/>
          <p:cNvSpPr/>
          <p:nvPr/>
        </p:nvSpPr>
        <p:spPr>
          <a:xfrm>
            <a:off x="2074188" y="4849058"/>
            <a:ext cx="565547" cy="565547"/>
          </a:xfrm>
          <a:prstGeom prst="roundRect">
            <a:avLst>
              <a:gd name="adj" fmla="val 161684"/>
            </a:avLst>
          </a:prstGeom>
          <a:solidFill>
            <a:srgbClr val="2150F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43852" y="5018603"/>
            <a:ext cx="226219" cy="22621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05126" y="5603200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</a:t>
            </a:r>
            <a:endParaRPr lang="en-US" sz="1850" dirty="0"/>
          </a:p>
        </p:txBody>
      </p:sp>
      <p:sp>
        <p:nvSpPr>
          <p:cNvPr id="14" name="Shape 11"/>
          <p:cNvSpPr/>
          <p:nvPr/>
        </p:nvSpPr>
        <p:spPr>
          <a:xfrm>
            <a:off x="4099203" y="5131832"/>
            <a:ext cx="3126462" cy="977384"/>
          </a:xfrm>
          <a:prstGeom prst="roundRect">
            <a:avLst>
              <a:gd name="adj" fmla="val 11227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4099203" y="5108972"/>
            <a:ext cx="3126462" cy="91440"/>
          </a:xfrm>
          <a:prstGeom prst="roundRect">
            <a:avLst>
              <a:gd name="adj" fmla="val 30930"/>
            </a:avLst>
          </a:prstGeom>
          <a:solidFill>
            <a:srgbClr val="2150FE"/>
          </a:solidFill>
          <a:ln/>
        </p:spPr>
      </p:sp>
      <p:sp>
        <p:nvSpPr>
          <p:cNvPr id="16" name="Shape 13"/>
          <p:cNvSpPr/>
          <p:nvPr/>
        </p:nvSpPr>
        <p:spPr>
          <a:xfrm>
            <a:off x="5379601" y="4849058"/>
            <a:ext cx="565547" cy="565547"/>
          </a:xfrm>
          <a:prstGeom prst="roundRect">
            <a:avLst>
              <a:gd name="adj" fmla="val 161684"/>
            </a:avLst>
          </a:prstGeom>
          <a:solidFill>
            <a:srgbClr val="2150FE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9265" y="5018603"/>
            <a:ext cx="226219" cy="22621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10539" y="5603200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Manufactured</a:t>
            </a:r>
            <a:endParaRPr lang="en-US" sz="1850" dirty="0"/>
          </a:p>
        </p:txBody>
      </p:sp>
      <p:sp>
        <p:nvSpPr>
          <p:cNvPr id="19" name="Shape 15"/>
          <p:cNvSpPr/>
          <p:nvPr/>
        </p:nvSpPr>
        <p:spPr>
          <a:xfrm>
            <a:off x="7404735" y="5131832"/>
            <a:ext cx="3126343" cy="977384"/>
          </a:xfrm>
          <a:prstGeom prst="roundRect">
            <a:avLst>
              <a:gd name="adj" fmla="val 11227"/>
            </a:avLst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7404735" y="5108972"/>
            <a:ext cx="3126343" cy="91440"/>
          </a:xfrm>
          <a:prstGeom prst="roundRect">
            <a:avLst>
              <a:gd name="adj" fmla="val 30930"/>
            </a:avLst>
          </a:prstGeom>
          <a:solidFill>
            <a:srgbClr val="2150FE"/>
          </a:solidFill>
          <a:ln/>
        </p:spPr>
      </p:sp>
      <p:sp>
        <p:nvSpPr>
          <p:cNvPr id="21" name="Shape 17"/>
          <p:cNvSpPr/>
          <p:nvPr/>
        </p:nvSpPr>
        <p:spPr>
          <a:xfrm>
            <a:off x="8685133" y="4849058"/>
            <a:ext cx="565547" cy="565547"/>
          </a:xfrm>
          <a:prstGeom prst="roundRect">
            <a:avLst>
              <a:gd name="adj" fmla="val 161684"/>
            </a:avLst>
          </a:prstGeom>
          <a:solidFill>
            <a:srgbClr val="2150F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54797" y="5018603"/>
            <a:ext cx="226219" cy="22621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616071" y="5603200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Intellectual</a:t>
            </a:r>
            <a:endParaRPr lang="en-US" sz="1850" dirty="0"/>
          </a:p>
        </p:txBody>
      </p:sp>
      <p:sp>
        <p:nvSpPr>
          <p:cNvPr id="24" name="Shape 19"/>
          <p:cNvSpPr/>
          <p:nvPr/>
        </p:nvSpPr>
        <p:spPr>
          <a:xfrm>
            <a:off x="10710148" y="5131832"/>
            <a:ext cx="3126462" cy="977384"/>
          </a:xfrm>
          <a:prstGeom prst="roundRect">
            <a:avLst>
              <a:gd name="adj" fmla="val 11227"/>
            </a:avLst>
          </a:prstGeom>
          <a:solidFill>
            <a:srgbClr val="FFFFFF"/>
          </a:solidFill>
          <a:ln/>
        </p:spPr>
      </p:sp>
      <p:sp>
        <p:nvSpPr>
          <p:cNvPr id="25" name="Shape 20"/>
          <p:cNvSpPr/>
          <p:nvPr/>
        </p:nvSpPr>
        <p:spPr>
          <a:xfrm>
            <a:off x="10710148" y="5108972"/>
            <a:ext cx="3126462" cy="91440"/>
          </a:xfrm>
          <a:prstGeom prst="roundRect">
            <a:avLst>
              <a:gd name="adj" fmla="val 30930"/>
            </a:avLst>
          </a:prstGeom>
          <a:solidFill>
            <a:srgbClr val="2150FE"/>
          </a:solidFill>
          <a:ln/>
        </p:spPr>
      </p:sp>
      <p:sp>
        <p:nvSpPr>
          <p:cNvPr id="26" name="Shape 21"/>
          <p:cNvSpPr/>
          <p:nvPr/>
        </p:nvSpPr>
        <p:spPr>
          <a:xfrm>
            <a:off x="11990546" y="4849058"/>
            <a:ext cx="565547" cy="565547"/>
          </a:xfrm>
          <a:prstGeom prst="roundRect">
            <a:avLst>
              <a:gd name="adj" fmla="val 161684"/>
            </a:avLst>
          </a:prstGeom>
          <a:solidFill>
            <a:srgbClr val="2150F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60210" y="5018603"/>
            <a:ext cx="226219" cy="22621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921484" y="5603200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Human</a:t>
            </a:r>
            <a:endParaRPr lang="en-US" sz="1850" dirty="0"/>
          </a:p>
        </p:txBody>
      </p:sp>
      <p:sp>
        <p:nvSpPr>
          <p:cNvPr id="29" name="Shape 23"/>
          <p:cNvSpPr/>
          <p:nvPr/>
        </p:nvSpPr>
        <p:spPr>
          <a:xfrm>
            <a:off x="793790" y="6571059"/>
            <a:ext cx="6431875" cy="977384"/>
          </a:xfrm>
          <a:prstGeom prst="roundRect">
            <a:avLst>
              <a:gd name="adj" fmla="val 11227"/>
            </a:avLst>
          </a:prstGeom>
          <a:solidFill>
            <a:srgbClr val="FFFFFF"/>
          </a:solidFill>
          <a:ln/>
        </p:spPr>
      </p:sp>
      <p:sp>
        <p:nvSpPr>
          <p:cNvPr id="30" name="Shape 24"/>
          <p:cNvSpPr/>
          <p:nvPr/>
        </p:nvSpPr>
        <p:spPr>
          <a:xfrm>
            <a:off x="793790" y="6548199"/>
            <a:ext cx="6431875" cy="91440"/>
          </a:xfrm>
          <a:prstGeom prst="roundRect">
            <a:avLst>
              <a:gd name="adj" fmla="val 30930"/>
            </a:avLst>
          </a:prstGeom>
          <a:solidFill>
            <a:srgbClr val="2150FE"/>
          </a:solidFill>
          <a:ln/>
        </p:spPr>
      </p:sp>
      <p:sp>
        <p:nvSpPr>
          <p:cNvPr id="31" name="Shape 25"/>
          <p:cNvSpPr/>
          <p:nvPr/>
        </p:nvSpPr>
        <p:spPr>
          <a:xfrm>
            <a:off x="3726894" y="6288286"/>
            <a:ext cx="565547" cy="565547"/>
          </a:xfrm>
          <a:prstGeom prst="roundRect">
            <a:avLst>
              <a:gd name="adj" fmla="val 161684"/>
            </a:avLst>
          </a:prstGeom>
          <a:solidFill>
            <a:srgbClr val="2150FE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96558" y="6457831"/>
            <a:ext cx="226219" cy="226219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05126" y="704242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Social</a:t>
            </a:r>
            <a:endParaRPr lang="en-US" sz="1850" dirty="0"/>
          </a:p>
        </p:txBody>
      </p:sp>
      <p:sp>
        <p:nvSpPr>
          <p:cNvPr id="34" name="Shape 27"/>
          <p:cNvSpPr/>
          <p:nvPr/>
        </p:nvSpPr>
        <p:spPr>
          <a:xfrm>
            <a:off x="7404735" y="6571059"/>
            <a:ext cx="6431875" cy="977384"/>
          </a:xfrm>
          <a:prstGeom prst="roundRect">
            <a:avLst>
              <a:gd name="adj" fmla="val 11227"/>
            </a:avLst>
          </a:prstGeom>
          <a:solidFill>
            <a:srgbClr val="FFFFFF"/>
          </a:solidFill>
          <a:ln/>
        </p:spPr>
      </p:sp>
      <p:sp>
        <p:nvSpPr>
          <p:cNvPr id="35" name="Shape 28"/>
          <p:cNvSpPr/>
          <p:nvPr/>
        </p:nvSpPr>
        <p:spPr>
          <a:xfrm>
            <a:off x="7404735" y="6548199"/>
            <a:ext cx="6431875" cy="91440"/>
          </a:xfrm>
          <a:prstGeom prst="roundRect">
            <a:avLst>
              <a:gd name="adj" fmla="val 30930"/>
            </a:avLst>
          </a:prstGeom>
          <a:solidFill>
            <a:srgbClr val="2150FE"/>
          </a:solidFill>
          <a:ln/>
        </p:spPr>
      </p:sp>
      <p:sp>
        <p:nvSpPr>
          <p:cNvPr id="36" name="Shape 29"/>
          <p:cNvSpPr/>
          <p:nvPr/>
        </p:nvSpPr>
        <p:spPr>
          <a:xfrm>
            <a:off x="10337840" y="6288286"/>
            <a:ext cx="565547" cy="565547"/>
          </a:xfrm>
          <a:prstGeom prst="roundRect">
            <a:avLst>
              <a:gd name="adj" fmla="val 161684"/>
            </a:avLst>
          </a:prstGeom>
          <a:solidFill>
            <a:srgbClr val="2150FE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07504" y="6457831"/>
            <a:ext cx="226219" cy="226219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616071" y="704242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Natural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93307"/>
            <a:ext cx="1143595" cy="373142"/>
          </a:xfrm>
          <a:prstGeom prst="roundRect">
            <a:avLst>
              <a:gd name="adj" fmla="val 6383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752838"/>
            <a:ext cx="90547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PRINCIPLE 5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145744"/>
            <a:ext cx="538781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Stakeholder Relationships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845118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Stakeholder Inclusivity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93790" y="3638907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governing body should: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93790" y="4259104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1438632" y="4327327"/>
            <a:ext cx="257996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Identify key stakeholders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439144" y="4259104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8083987" y="4327327"/>
            <a:ext cx="384488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Understand stakeholder expectations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93790" y="5102423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1438632" y="5170646"/>
            <a:ext cx="289667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Balance competing interests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439144" y="5102423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8083987" y="5170646"/>
            <a:ext cx="321742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Foster transparent engagement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91446" y="5995392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Sustainable governance requires legitimacy.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93790" y="5772150"/>
            <a:ext cx="22860" cy="764024"/>
          </a:xfrm>
          <a:prstGeom prst="rect">
            <a:avLst/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1638"/>
            <a:ext cx="517826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Stakeholder Mapping Template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268492"/>
            <a:ext cx="4422577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Stakeholder Identification Matrix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93790" y="1855827"/>
            <a:ext cx="13042821" cy="2743200"/>
          </a:xfrm>
          <a:prstGeom prst="roundRect">
            <a:avLst>
              <a:gd name="adj" fmla="val 86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1863447"/>
            <a:ext cx="13027581" cy="3962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60358" y="1947267"/>
            <a:ext cx="29356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Stakeholder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21004" y="1947267"/>
            <a:ext cx="29317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Interest Level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7839" y="1947267"/>
            <a:ext cx="29317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Influence Level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734675" y="1947267"/>
            <a:ext cx="29356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Engagement Strategy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1410" y="2259687"/>
            <a:ext cx="13027581" cy="6248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60358" y="2343507"/>
            <a:ext cx="29356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Shareholders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21004" y="2343507"/>
            <a:ext cx="29317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77839" y="2343507"/>
            <a:ext cx="29317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734675" y="2343507"/>
            <a:ext cx="29356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Regular investor briefings, annual general meetings, transparent financial reporting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1410" y="2884527"/>
            <a:ext cx="13027581" cy="8534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60358" y="2968347"/>
            <a:ext cx="29356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Employees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221004" y="2968347"/>
            <a:ext cx="29317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77839" y="2968347"/>
            <a:ext cx="29317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Medium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734675" y="2968347"/>
            <a:ext cx="29356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Internal communications, town halls, employee surveys, grievance mechanisms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1410" y="3737967"/>
            <a:ext cx="13027581" cy="8534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60358" y="3821787"/>
            <a:ext cx="29356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Regulators &amp; Government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221004" y="3821787"/>
            <a:ext cx="29317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Medium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77839" y="3821787"/>
            <a:ext cx="29317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734675" y="3821787"/>
            <a:ext cx="29356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Compliance reporting, regulatory submissions, proactive engagement on policy changes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93790" y="4741902"/>
            <a:ext cx="130428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Steps:</a:t>
            </a:r>
            <a:endParaRPr lang="en-US" sz="15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5170527"/>
            <a:ext cx="6521410" cy="635079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952500" y="593252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1. Identify stakeholders</a:t>
            </a:r>
            <a:endParaRPr lang="en-US" sz="155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170527"/>
            <a:ext cx="6521410" cy="635079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473910" y="5932527"/>
            <a:ext cx="248554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2. Assess influence and impact</a:t>
            </a:r>
            <a:endParaRPr lang="en-US" sz="155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6339245"/>
            <a:ext cx="6521410" cy="635079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52500" y="7101245"/>
            <a:ext cx="231528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3. Develop engagement plan</a:t>
            </a:r>
            <a:endParaRPr lang="en-US" sz="155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6339245"/>
            <a:ext cx="6521410" cy="635079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73910" y="7101245"/>
            <a:ext cx="248709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4. Monitor relationship health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211586"/>
            <a:ext cx="1431131" cy="373142"/>
          </a:xfrm>
          <a:prstGeom prst="roundRect">
            <a:avLst>
              <a:gd name="adj" fmla="val 6383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2271117"/>
            <a:ext cx="119300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PRINCIPLES 6–7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66402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Governing Body Role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363397"/>
            <a:ext cx="545187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Board Leadership &amp; Composition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93790" y="4157186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governing body should: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70930" y="4754523"/>
            <a:ext cx="45720" cy="666036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8" name="Text 6"/>
          <p:cNvSpPr/>
          <p:nvPr/>
        </p:nvSpPr>
        <p:spPr>
          <a:xfrm>
            <a:off x="1037868" y="4777383"/>
            <a:ext cx="345686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Serve as focal point of governance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201126" y="4754523"/>
            <a:ext cx="45720" cy="666036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0" name="Text 8"/>
          <p:cNvSpPr/>
          <p:nvPr/>
        </p:nvSpPr>
        <p:spPr>
          <a:xfrm>
            <a:off x="5468064" y="4777383"/>
            <a:ext cx="393823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Ensure appropriate board composition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631442" y="4754523"/>
            <a:ext cx="45720" cy="666036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2" name="Text 10"/>
          <p:cNvSpPr/>
          <p:nvPr/>
        </p:nvSpPr>
        <p:spPr>
          <a:xfrm>
            <a:off x="9898380" y="4777383"/>
            <a:ext cx="382333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Maintain independence and diversity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93790" y="5620941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Board structure must support strategic oversight.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4805"/>
            <a:ext cx="578119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Board Composition Analysis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94178"/>
            <a:ext cx="402193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Skills &amp; Diversity Matrix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93790" y="2787968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Board evaluation should consider: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93790" y="3631406"/>
            <a:ext cx="3040499" cy="752594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5008" y="385262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expertise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032647" y="3631406"/>
            <a:ext cx="3040499" cy="752594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3865" y="385262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Industry knowledge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93790" y="4582358"/>
            <a:ext cx="3040499" cy="1062752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5008" y="480357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Legal competence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4032647" y="4582358"/>
            <a:ext cx="3040499" cy="1062752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3865" y="4803577"/>
            <a:ext cx="259806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Risk management experience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564874" y="3631406"/>
            <a:ext cx="3040499" cy="1062752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86092" y="3852624"/>
            <a:ext cx="259806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Technology understanding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803731" y="3631406"/>
            <a:ext cx="3040499" cy="1062752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24949" y="385262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Independence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564874" y="4892516"/>
            <a:ext cx="6279356" cy="752594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86092" y="5113734"/>
            <a:ext cx="363462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Diversity (gender, race, experience)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793790" y="6091595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B3C3FF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6379250"/>
            <a:ext cx="248007" cy="19835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38513" y="6339483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Balanced boards enhance decision quality.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60671"/>
            <a:ext cx="1143595" cy="373142"/>
          </a:xfrm>
          <a:prstGeom prst="roundRect">
            <a:avLst>
              <a:gd name="adj" fmla="val 6383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620203"/>
            <a:ext cx="90547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PRINCIPLE 8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01310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Committees Structure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712482"/>
            <a:ext cx="403586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Governance Committees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93790" y="3506272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Typical committees: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93790" y="4126468"/>
            <a:ext cx="3111937" cy="1017032"/>
          </a:xfrm>
          <a:prstGeom prst="roundRect">
            <a:avLst>
              <a:gd name="adj" fmla="val 46836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992148" y="432482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Audit Committee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4104084" y="4126468"/>
            <a:ext cx="3111937" cy="1017032"/>
          </a:xfrm>
          <a:prstGeom prst="roundRect">
            <a:avLst>
              <a:gd name="adj" fmla="val 46836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4302443" y="432482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Risk Committee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414379" y="4126468"/>
            <a:ext cx="3111937" cy="1017032"/>
          </a:xfrm>
          <a:prstGeom prst="roundRect">
            <a:avLst>
              <a:gd name="adj" fmla="val 46836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7612737" y="4324826"/>
            <a:ext cx="271522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Social &amp; Ethics Committee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724674" y="4126468"/>
            <a:ext cx="3111937" cy="1017032"/>
          </a:xfrm>
          <a:prstGeom prst="roundRect">
            <a:avLst>
              <a:gd name="adj" fmla="val 46836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10923032" y="4324826"/>
            <a:ext cx="26811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Remuneration Committee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793790" y="5341858"/>
            <a:ext cx="13042821" cy="706874"/>
          </a:xfrm>
          <a:prstGeom prst="roundRect">
            <a:avLst>
              <a:gd name="adj" fmla="val 67387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992148" y="55402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Nomination Committee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93790" y="6271974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Clear mandates and terms of reference are essential.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91039"/>
            <a:ext cx="1029414" cy="324326"/>
          </a:xfrm>
          <a:prstGeom prst="roundRect">
            <a:avLst>
              <a:gd name="adj" fmla="val 6609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900946" y="744617"/>
            <a:ext cx="815102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PRINCIPLE 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3790" y="1079659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Performance Evaluation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93790" y="1702118"/>
            <a:ext cx="4870966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Board &amp; Committee Assessments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93790" y="2389823"/>
            <a:ext cx="13042821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Regular evaluations should assess: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2760345" y="3730585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Effectiveness</a:t>
            </a:r>
            <a:endParaRPr lang="en-US" sz="17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1015" y="2910007"/>
            <a:ext cx="4108371" cy="4108371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4723" y="3654028"/>
            <a:ext cx="267176" cy="267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37276" y="3730585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Independence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1015" y="2910007"/>
            <a:ext cx="4108371" cy="4108371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7949" y="4003596"/>
            <a:ext cx="267176" cy="2671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37276" y="5918716"/>
            <a:ext cx="2261711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Leadership performance</a:t>
            </a:r>
            <a:endParaRPr lang="en-US" sz="17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1015" y="2910007"/>
            <a:ext cx="4108371" cy="4108371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08382" y="6006822"/>
            <a:ext cx="267176" cy="26717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720697" y="5918716"/>
            <a:ext cx="2272427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Committee performance</a:t>
            </a:r>
            <a:endParaRPr lang="en-US" sz="17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61015" y="2910007"/>
            <a:ext cx="4108371" cy="4108371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05155" y="5657255"/>
            <a:ext cx="267176" cy="267176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7199233"/>
            <a:ext cx="13042821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Evaluation supports continuous improvement.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85555"/>
            <a:ext cx="1232773" cy="373142"/>
          </a:xfrm>
          <a:prstGeom prst="roundRect">
            <a:avLst>
              <a:gd name="adj" fmla="val 6383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645087"/>
            <a:ext cx="99464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PRINCIPLE 10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03799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Delegation Framework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737366"/>
            <a:ext cx="445317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Appointment &amp; Delegation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93790" y="3531156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governing body should: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70930" y="4151352"/>
            <a:ext cx="6443067" cy="4572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43954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Delegate responsibly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416284" y="4151352"/>
            <a:ext cx="6443186" cy="4572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0" name="Text 8"/>
          <p:cNvSpPr/>
          <p:nvPr/>
        </p:nvSpPr>
        <p:spPr>
          <a:xfrm>
            <a:off x="7439144" y="43954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Define authority limits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70930" y="5102423"/>
            <a:ext cx="6443067" cy="4572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2" name="Text 10"/>
          <p:cNvSpPr/>
          <p:nvPr/>
        </p:nvSpPr>
        <p:spPr>
          <a:xfrm>
            <a:off x="793790" y="534650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Maintain oversight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416284" y="5102423"/>
            <a:ext cx="6443186" cy="4572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4" name="Text 12"/>
          <p:cNvSpPr/>
          <p:nvPr/>
        </p:nvSpPr>
        <p:spPr>
          <a:xfrm>
            <a:off x="7439144" y="5346502"/>
            <a:ext cx="367629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Ensure accountability remains clear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91446" y="6103144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Delegation does not remove responsibility.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93790" y="5879902"/>
            <a:ext cx="22860" cy="764024"/>
          </a:xfrm>
          <a:prstGeom prst="rect">
            <a:avLst/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99599"/>
            <a:ext cx="1232773" cy="373142"/>
          </a:xfrm>
          <a:prstGeom prst="roundRect">
            <a:avLst>
              <a:gd name="adj" fmla="val 6383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659130"/>
            <a:ext cx="99464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PRINCIPLE 11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052036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Risk Governance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1751409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Governing Risk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93790" y="2545199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board should: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91446" y="3661529"/>
            <a:ext cx="6124456" cy="198358"/>
          </a:xfrm>
          <a:prstGeom prst="roundRect">
            <a:avLst>
              <a:gd name="adj" fmla="val 15009"/>
            </a:avLst>
          </a:prstGeom>
          <a:solidFill>
            <a:srgbClr val="F2EEEE"/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3463052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F2EEE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2618" y="3611880"/>
            <a:ext cx="297656" cy="2976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92148" y="4256723"/>
            <a:ext cx="266176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Oversee risk management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7712035" y="3363873"/>
            <a:ext cx="6124456" cy="198358"/>
          </a:xfrm>
          <a:prstGeom prst="roundRect">
            <a:avLst>
              <a:gd name="adj" fmla="val 15009"/>
            </a:avLst>
          </a:prstGeom>
          <a:solidFill>
            <a:srgbClr val="F2EEEE"/>
          </a:solidFill>
          <a:ln/>
        </p:spPr>
      </p:sp>
      <p:sp>
        <p:nvSpPr>
          <p:cNvPr id="12" name="Shape 9"/>
          <p:cNvSpPr/>
          <p:nvPr/>
        </p:nvSpPr>
        <p:spPr>
          <a:xfrm>
            <a:off x="7414379" y="3165396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F2EEE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3207" y="3314224"/>
            <a:ext cx="297656" cy="2976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12737" y="395906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Define risk appetite</a:t>
            </a:r>
            <a:endParaRPr lang="en-US" sz="1950" dirty="0"/>
          </a:p>
        </p:txBody>
      </p:sp>
      <p:sp>
        <p:nvSpPr>
          <p:cNvPr id="15" name="Shape 11"/>
          <p:cNvSpPr/>
          <p:nvPr/>
        </p:nvSpPr>
        <p:spPr>
          <a:xfrm>
            <a:off x="1091446" y="5459730"/>
            <a:ext cx="6124456" cy="198358"/>
          </a:xfrm>
          <a:prstGeom prst="roundRect">
            <a:avLst>
              <a:gd name="adj" fmla="val 15009"/>
            </a:avLst>
          </a:prstGeom>
          <a:solidFill>
            <a:srgbClr val="F2EEEE"/>
          </a:solidFill>
          <a:ln/>
        </p:spPr>
      </p:sp>
      <p:sp>
        <p:nvSpPr>
          <p:cNvPr id="16" name="Shape 12"/>
          <p:cNvSpPr/>
          <p:nvPr/>
        </p:nvSpPr>
        <p:spPr>
          <a:xfrm>
            <a:off x="793790" y="5261253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F2EEE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618" y="5410081"/>
            <a:ext cx="297656" cy="2976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92148" y="6054923"/>
            <a:ext cx="390251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Ensure risk is integrated with strategy</a:t>
            </a:r>
            <a:endParaRPr lang="en-US" sz="1950" dirty="0"/>
          </a:p>
        </p:txBody>
      </p:sp>
      <p:sp>
        <p:nvSpPr>
          <p:cNvPr id="19" name="Shape 14"/>
          <p:cNvSpPr/>
          <p:nvPr/>
        </p:nvSpPr>
        <p:spPr>
          <a:xfrm>
            <a:off x="7712035" y="5162074"/>
            <a:ext cx="6124456" cy="198358"/>
          </a:xfrm>
          <a:prstGeom prst="roundRect">
            <a:avLst>
              <a:gd name="adj" fmla="val 15009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7414379" y="4963597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F2EE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3207" y="5112425"/>
            <a:ext cx="297656" cy="2976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12737" y="57572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Monitor risk exposure</a:t>
            </a:r>
            <a:endParaRPr lang="en-US" sz="1950" dirty="0"/>
          </a:p>
        </p:txBody>
      </p:sp>
      <p:sp>
        <p:nvSpPr>
          <p:cNvPr id="23" name="Shape 17"/>
          <p:cNvSpPr/>
          <p:nvPr/>
        </p:nvSpPr>
        <p:spPr>
          <a:xfrm>
            <a:off x="793790" y="6786682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B3C3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148" y="7074337"/>
            <a:ext cx="248007" cy="19835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38513" y="7034570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Risk governance supports effective control.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5447"/>
            <a:ext cx="3478887" cy="43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Risk Committee Charter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93790" y="1188363"/>
            <a:ext cx="407527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Elements of Terms of Reference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793790" y="1681520"/>
            <a:ext cx="13042821" cy="833557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030" y="1696760"/>
            <a:ext cx="555665" cy="803077"/>
          </a:xfrm>
          <a:prstGeom prst="roundRect">
            <a:avLst>
              <a:gd name="adj" fmla="val 459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982623" y="1968103"/>
            <a:ext cx="20835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1849" y="1835587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Purpose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93790" y="2612231"/>
            <a:ext cx="13042821" cy="833557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030" y="2627471"/>
            <a:ext cx="555665" cy="803077"/>
          </a:xfrm>
          <a:prstGeom prst="roundRect">
            <a:avLst>
              <a:gd name="adj" fmla="val 459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982623" y="2898815"/>
            <a:ext cx="20835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1849" y="2766298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Authority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93790" y="3542943"/>
            <a:ext cx="13042821" cy="833557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030" y="3558183"/>
            <a:ext cx="555665" cy="803077"/>
          </a:xfrm>
          <a:prstGeom prst="roundRect">
            <a:avLst>
              <a:gd name="adj" fmla="val 459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982623" y="3829526"/>
            <a:ext cx="20835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1849" y="3697010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Responsibilities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93790" y="4473654"/>
            <a:ext cx="13042821" cy="833557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030" y="4488894"/>
            <a:ext cx="555665" cy="803077"/>
          </a:xfrm>
          <a:prstGeom prst="roundRect">
            <a:avLst>
              <a:gd name="adj" fmla="val 459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982623" y="4760238"/>
            <a:ext cx="20835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1849" y="4627721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Reporting obligations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93790" y="5404366"/>
            <a:ext cx="13042821" cy="833557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030" y="5419606"/>
            <a:ext cx="555665" cy="803077"/>
          </a:xfrm>
          <a:prstGeom prst="roundRect">
            <a:avLst>
              <a:gd name="adj" fmla="val 459"/>
            </a:avLst>
          </a:prstGeom>
          <a:solidFill>
            <a:srgbClr val="F2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982623" y="5690949"/>
            <a:ext cx="20835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1849" y="5558433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Meeting frequency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93790" y="6335078"/>
            <a:ext cx="13042821" cy="833557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030" y="6350317"/>
            <a:ext cx="555665" cy="803077"/>
          </a:xfrm>
          <a:prstGeom prst="roundRect">
            <a:avLst>
              <a:gd name="adj" fmla="val 459"/>
            </a:avLst>
          </a:prstGeom>
          <a:solidFill>
            <a:srgbClr val="F2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982623" y="6621661"/>
            <a:ext cx="20835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1849" y="6489144"/>
            <a:ext cx="1917740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Membership requirements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93790" y="7277933"/>
            <a:ext cx="13042821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Clear charters strengthen oversight.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827252"/>
            <a:ext cx="1232773" cy="373142"/>
          </a:xfrm>
          <a:prstGeom prst="roundRect">
            <a:avLst>
              <a:gd name="adj" fmla="val 6383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886783"/>
            <a:ext cx="99464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PRINCIPLE 12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279690"/>
            <a:ext cx="547592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Technology &amp; Information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979063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IT Governance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93790" y="3772852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governing body should ensure:</a:t>
            </a:r>
            <a:endParaRPr lang="en-US" sz="1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4393049"/>
            <a:ext cx="496133" cy="49613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7930" y="43930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IT aligns with strategy</a:t>
            </a:r>
            <a:endParaRPr lang="en-US" sz="1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9144" y="4393049"/>
            <a:ext cx="496133" cy="4961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83285" y="4393049"/>
            <a:ext cx="250626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Cyber risks are managed</a:t>
            </a:r>
            <a:endParaRPr lang="en-US" sz="1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286018"/>
            <a:ext cx="496133" cy="49613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37930" y="5286018"/>
            <a:ext cx="288726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integrity is maintained</a:t>
            </a:r>
            <a:endParaRPr lang="en-US" sz="1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9144" y="5286018"/>
            <a:ext cx="496133" cy="4961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83285" y="5286018"/>
            <a:ext cx="350150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Digital transformation is overseen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793790" y="6005393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Technology governance is strategic.</a:t>
            </a:r>
            <a:endParaRPr lang="en-US" sz="1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93031"/>
            <a:ext cx="1232773" cy="373142"/>
          </a:xfrm>
          <a:prstGeom prst="roundRect">
            <a:avLst>
              <a:gd name="adj" fmla="val 6383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452563"/>
            <a:ext cx="99464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PRINCIPLE 13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845469"/>
            <a:ext cx="500253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Compliance Governance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544842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Regulatory Compliance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93790" y="3338632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Organizations must: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93790" y="4287500"/>
            <a:ext cx="99179" cy="99179"/>
          </a:xfrm>
          <a:prstGeom prst="roundRect">
            <a:avLst>
              <a:gd name="adj" fmla="val 460985"/>
            </a:avLst>
          </a:prstGeom>
          <a:solidFill>
            <a:srgbClr val="2150FE"/>
          </a:solidFill>
          <a:ln/>
        </p:spPr>
      </p:sp>
      <p:sp>
        <p:nvSpPr>
          <p:cNvPr id="8" name="Text 6"/>
          <p:cNvSpPr/>
          <p:nvPr/>
        </p:nvSpPr>
        <p:spPr>
          <a:xfrm>
            <a:off x="1091327" y="4182070"/>
            <a:ext cx="314205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Identify regulatory obligations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93790" y="4994493"/>
            <a:ext cx="99179" cy="99179"/>
          </a:xfrm>
          <a:prstGeom prst="roundRect">
            <a:avLst>
              <a:gd name="adj" fmla="val 460985"/>
            </a:avLst>
          </a:prstGeom>
          <a:solidFill>
            <a:srgbClr val="2150FE"/>
          </a:solidFill>
          <a:ln/>
        </p:spPr>
      </p:sp>
      <p:sp>
        <p:nvSpPr>
          <p:cNvPr id="10" name="Text 8"/>
          <p:cNvSpPr/>
          <p:nvPr/>
        </p:nvSpPr>
        <p:spPr>
          <a:xfrm>
            <a:off x="1091327" y="48890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Monitor compliance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93790" y="5701486"/>
            <a:ext cx="99179" cy="99179"/>
          </a:xfrm>
          <a:prstGeom prst="roundRect">
            <a:avLst>
              <a:gd name="adj" fmla="val 460985"/>
            </a:avLst>
          </a:prstGeom>
          <a:solidFill>
            <a:srgbClr val="2150F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1327" y="5596057"/>
            <a:ext cx="288631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Respond to non-compliance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93790" y="6408480"/>
            <a:ext cx="99179" cy="99179"/>
          </a:xfrm>
          <a:prstGeom prst="roundRect">
            <a:avLst>
              <a:gd name="adj" fmla="val 460985"/>
            </a:avLst>
          </a:prstGeom>
          <a:solidFill>
            <a:srgbClr val="2150FE"/>
          </a:solidFill>
          <a:ln/>
        </p:spPr>
      </p:sp>
      <p:sp>
        <p:nvSpPr>
          <p:cNvPr id="14" name="Text 12"/>
          <p:cNvSpPr/>
          <p:nvPr/>
        </p:nvSpPr>
        <p:spPr>
          <a:xfrm>
            <a:off x="1091327" y="6303050"/>
            <a:ext cx="311753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Maintain compliance registers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98274" y="3958828"/>
            <a:ext cx="5888712" cy="2877622"/>
          </a:xfrm>
          <a:prstGeom prst="roundRect">
            <a:avLst>
              <a:gd name="adj" fmla="val 1035"/>
            </a:avLst>
          </a:prstGeom>
          <a:solidFill>
            <a:srgbClr val="2150FE"/>
          </a:solidFill>
          <a:ln/>
        </p:spPr>
      </p:sp>
      <p:sp>
        <p:nvSpPr>
          <p:cNvPr id="16" name="Text 14"/>
          <p:cNvSpPr/>
          <p:nvPr/>
        </p:nvSpPr>
        <p:spPr>
          <a:xfrm>
            <a:off x="8296632" y="415718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Takeaway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296632" y="4665702"/>
            <a:ext cx="54919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Compliance protects legitimacy.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31394"/>
            <a:ext cx="1232773" cy="373142"/>
          </a:xfrm>
          <a:prstGeom prst="roundRect">
            <a:avLst>
              <a:gd name="adj" fmla="val 6383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690926"/>
            <a:ext cx="99464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PRINCIPLE 14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083832"/>
            <a:ext cx="550306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Remuneration Governance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783205"/>
            <a:ext cx="405634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Fair and Responsible Pay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93790" y="3576995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Remuneration should: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93790" y="4197191"/>
            <a:ext cx="13042821" cy="1413748"/>
          </a:xfrm>
          <a:prstGeom prst="roundRect">
            <a:avLst>
              <a:gd name="adj" fmla="val 2106"/>
            </a:avLst>
          </a:prstGeom>
          <a:solidFill>
            <a:srgbClr val="F2EEEE"/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4197191"/>
            <a:ext cx="6521410" cy="706874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992148" y="4395549"/>
            <a:ext cx="34303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Support long-term value creation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315200" y="4197191"/>
            <a:ext cx="6521410" cy="706874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4197191"/>
            <a:ext cx="22860" cy="706874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7811333" y="43955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Align with performance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067193" y="4302502"/>
            <a:ext cx="496133" cy="496133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3790" y="4904065"/>
            <a:ext cx="6521410" cy="706874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5" name="Shape 13"/>
          <p:cNvSpPr/>
          <p:nvPr/>
        </p:nvSpPr>
        <p:spPr>
          <a:xfrm>
            <a:off x="793790" y="4904065"/>
            <a:ext cx="6521410" cy="22860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16" name="Text 14"/>
          <p:cNvSpPr/>
          <p:nvPr/>
        </p:nvSpPr>
        <p:spPr>
          <a:xfrm>
            <a:off x="992148" y="51024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Be transparent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315200" y="4904065"/>
            <a:ext cx="6521410" cy="706874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4904065"/>
            <a:ext cx="22860" cy="706874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4904065"/>
            <a:ext cx="6521410" cy="22860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20" name="Text 18"/>
          <p:cNvSpPr/>
          <p:nvPr/>
        </p:nvSpPr>
        <p:spPr>
          <a:xfrm>
            <a:off x="7811333" y="5102423"/>
            <a:ext cx="386453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Avoid excessive risk-taking incentives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7067193" y="5009376"/>
            <a:ext cx="496133" cy="496133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1446" y="6057424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Pay structures influence behavior.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93790" y="5834182"/>
            <a:ext cx="22860" cy="764024"/>
          </a:xfrm>
          <a:prstGeom prst="rect">
            <a:avLst/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59487"/>
            <a:ext cx="1170861" cy="348377"/>
          </a:xfrm>
          <a:prstGeom prst="roundRect">
            <a:avLst>
              <a:gd name="adj" fmla="val 6495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906899" y="716042"/>
            <a:ext cx="944642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PRINCIPLE 15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93790" y="1079421"/>
            <a:ext cx="4713684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Assurance Framework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93790" y="1740098"/>
            <a:ext cx="4353401" cy="471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Combined Assurance Model</a:t>
            </a:r>
            <a:endParaRPr lang="en-US" sz="2950" dirty="0"/>
          </a:p>
        </p:txBody>
      </p:sp>
      <p:sp>
        <p:nvSpPr>
          <p:cNvPr id="6" name="Text 4"/>
          <p:cNvSpPr/>
          <p:nvPr/>
        </p:nvSpPr>
        <p:spPr>
          <a:xfrm>
            <a:off x="793790" y="2479953"/>
            <a:ext cx="13042821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Assurance should include:</a:t>
            </a:r>
            <a:endParaRPr lang="en-US" sz="1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8759" y="3049072"/>
            <a:ext cx="1291233" cy="67115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921800" y="3291364"/>
            <a:ext cx="26503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4888468" y="3237548"/>
            <a:ext cx="1867972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Independent oversight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747022" y="3734157"/>
            <a:ext cx="9042559" cy="11430"/>
          </a:xfrm>
          <a:prstGeom prst="roundRect">
            <a:avLst>
              <a:gd name="adj" fmla="val 247442"/>
            </a:avLst>
          </a:prstGeom>
          <a:solidFill>
            <a:srgbClr val="D8D4D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203" y="3767257"/>
            <a:ext cx="2582466" cy="6711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21919" y="3937159"/>
            <a:ext cx="26503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5534144" y="3955732"/>
            <a:ext cx="1147167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External audit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392698" y="4452342"/>
            <a:ext cx="8396883" cy="11430"/>
          </a:xfrm>
          <a:prstGeom prst="roundRect">
            <a:avLst>
              <a:gd name="adj" fmla="val 247442"/>
            </a:avLst>
          </a:prstGeom>
          <a:solidFill>
            <a:srgbClr val="D8D4D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527" y="4485442"/>
            <a:ext cx="3873698" cy="6711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21800" y="4655344"/>
            <a:ext cx="26503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2050" dirty="0"/>
          </a:p>
        </p:txBody>
      </p:sp>
      <p:sp>
        <p:nvSpPr>
          <p:cNvPr id="17" name="Text 12"/>
          <p:cNvSpPr/>
          <p:nvPr/>
        </p:nvSpPr>
        <p:spPr>
          <a:xfrm>
            <a:off x="6179701" y="4673918"/>
            <a:ext cx="1102043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Internal audit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038255" y="5170527"/>
            <a:ext cx="7751326" cy="11430"/>
          </a:xfrm>
          <a:prstGeom prst="roundRect">
            <a:avLst>
              <a:gd name="adj" fmla="val 247442"/>
            </a:avLst>
          </a:prstGeom>
          <a:solidFill>
            <a:srgbClr val="D8D4D4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970" y="5203627"/>
            <a:ext cx="5164931" cy="67115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921800" y="5373529"/>
            <a:ext cx="26503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2050" dirty="0"/>
          </a:p>
        </p:txBody>
      </p:sp>
      <p:sp>
        <p:nvSpPr>
          <p:cNvPr id="21" name="Text 15"/>
          <p:cNvSpPr/>
          <p:nvPr/>
        </p:nvSpPr>
        <p:spPr>
          <a:xfrm>
            <a:off x="6825377" y="5392103"/>
            <a:ext cx="2253615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Risk management function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6683931" y="5888712"/>
            <a:ext cx="7105650" cy="11430"/>
          </a:xfrm>
          <a:prstGeom prst="roundRect">
            <a:avLst>
              <a:gd name="adj" fmla="val 247442"/>
            </a:avLst>
          </a:prstGeom>
          <a:solidFill>
            <a:srgbClr val="D8D4D4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921812"/>
            <a:ext cx="6456164" cy="67115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21800" y="6091714"/>
            <a:ext cx="26503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</a:t>
            </a:r>
            <a:endParaRPr lang="en-US" sz="2050" dirty="0"/>
          </a:p>
        </p:txBody>
      </p:sp>
      <p:sp>
        <p:nvSpPr>
          <p:cNvPr id="25" name="Text 18"/>
          <p:cNvSpPr/>
          <p:nvPr/>
        </p:nvSpPr>
        <p:spPr>
          <a:xfrm>
            <a:off x="7470934" y="6110288"/>
            <a:ext cx="1841063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Management controls</a:t>
            </a:r>
            <a:endParaRPr lang="en-US" sz="1450" dirty="0"/>
          </a:p>
        </p:txBody>
      </p:sp>
      <p:sp>
        <p:nvSpPr>
          <p:cNvPr id="26" name="Shape 19"/>
          <p:cNvSpPr/>
          <p:nvPr/>
        </p:nvSpPr>
        <p:spPr>
          <a:xfrm>
            <a:off x="793790" y="6794421"/>
            <a:ext cx="13042821" cy="775692"/>
          </a:xfrm>
          <a:prstGeom prst="roundRect">
            <a:avLst>
              <a:gd name="adj" fmla="val 3646"/>
            </a:avLst>
          </a:prstGeom>
          <a:solidFill>
            <a:srgbClr val="B3C3F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266" y="7070646"/>
            <a:ext cx="235625" cy="18847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06366" y="7020520"/>
            <a:ext cx="12241768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Assurance must avoid duplication and gaps.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211586"/>
            <a:ext cx="1609487" cy="373142"/>
          </a:xfrm>
          <a:prstGeom prst="roundRect">
            <a:avLst>
              <a:gd name="adj" fmla="val 6383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2271117"/>
            <a:ext cx="137136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PRINCIPLES 16–17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66402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Institutional Investors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363397"/>
            <a:ext cx="851689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Stakeholder Engagement &amp; Responsible Investment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93790" y="4157186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Institutional investors should:</a:t>
            </a:r>
            <a:endParaRPr lang="en-US" sz="1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204" y="4783455"/>
            <a:ext cx="297656" cy="2976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8632" y="4777383"/>
            <a:ext cx="344304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Exercise voting rights responsibly</a:t>
            </a:r>
            <a:endParaRPr lang="en-US" sz="1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8400" y="4783455"/>
            <a:ext cx="297656" cy="2976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68829" y="4777383"/>
            <a:ext cx="353746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Promote governance accountability</a:t>
            </a:r>
            <a:endParaRPr lang="en-US" sz="1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28716" y="4783455"/>
            <a:ext cx="297656" cy="2976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99144" y="477738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Engage transparently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793790" y="5620941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Shareholder activism forms part of governance ecosystem.</a:t>
            </a:r>
            <a:endParaRPr lang="en-US" sz="1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2347"/>
            <a:ext cx="4611291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Implementation Roadmap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266706"/>
            <a:ext cx="3785830" cy="421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Phased Adoption Approach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303770" y="1903452"/>
            <a:ext cx="22860" cy="4910376"/>
          </a:xfrm>
          <a:prstGeom prst="roundRect">
            <a:avLst>
              <a:gd name="adj" fmla="val 110698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6642259" y="2081808"/>
            <a:ext cx="506016" cy="22860"/>
          </a:xfrm>
          <a:prstGeom prst="roundRect">
            <a:avLst>
              <a:gd name="adj" fmla="val 110698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7125414" y="1903452"/>
            <a:ext cx="379571" cy="37957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7188696" y="1935123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363045" y="1961436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Phase 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93790" y="2310884"/>
            <a:ext cx="5677972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Governance Gap Assessment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82126" y="3043237"/>
            <a:ext cx="506016" cy="22860"/>
          </a:xfrm>
          <a:prstGeom prst="roundRect">
            <a:avLst>
              <a:gd name="adj" fmla="val 110698"/>
            </a:avLst>
          </a:prstGeom>
          <a:solidFill>
            <a:srgbClr val="D8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7125414" y="2864882"/>
            <a:ext cx="379571" cy="37957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7188696" y="2896553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158639" y="2922865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Phase 2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158639" y="3272314"/>
            <a:ext cx="5677972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Policy &amp; Charter Alignment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42259" y="3890367"/>
            <a:ext cx="506016" cy="22860"/>
          </a:xfrm>
          <a:prstGeom prst="roundRect">
            <a:avLst>
              <a:gd name="adj" fmla="val 110698"/>
            </a:avLst>
          </a:prstGeom>
          <a:solidFill>
            <a:srgbClr val="D8D4D4"/>
          </a:solidFill>
          <a:ln/>
        </p:spPr>
      </p:sp>
      <p:sp>
        <p:nvSpPr>
          <p:cNvPr id="16" name="Shape 14"/>
          <p:cNvSpPr/>
          <p:nvPr/>
        </p:nvSpPr>
        <p:spPr>
          <a:xfrm>
            <a:off x="7125414" y="3712012"/>
            <a:ext cx="379571" cy="37957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7188696" y="3743682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4363045" y="3769995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Phase 3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93790" y="4119443"/>
            <a:ext cx="5677972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Risk &amp; Assurance Integration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82126" y="4737497"/>
            <a:ext cx="506016" cy="22860"/>
          </a:xfrm>
          <a:prstGeom prst="roundRect">
            <a:avLst>
              <a:gd name="adj" fmla="val 110698"/>
            </a:avLst>
          </a:prstGeom>
          <a:solidFill>
            <a:srgbClr val="D8D4D4"/>
          </a:solidFill>
          <a:ln/>
        </p:spPr>
      </p:sp>
      <p:sp>
        <p:nvSpPr>
          <p:cNvPr id="21" name="Shape 19"/>
          <p:cNvSpPr/>
          <p:nvPr/>
        </p:nvSpPr>
        <p:spPr>
          <a:xfrm>
            <a:off x="7125414" y="4559141"/>
            <a:ext cx="379571" cy="37957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7188696" y="4590812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8158639" y="4617125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Phase 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158639" y="4966573"/>
            <a:ext cx="5677972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Reporting &amp; Disclosure Enhancement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42259" y="5584627"/>
            <a:ext cx="506016" cy="22860"/>
          </a:xfrm>
          <a:prstGeom prst="roundRect">
            <a:avLst>
              <a:gd name="adj" fmla="val 110698"/>
            </a:avLst>
          </a:prstGeom>
          <a:solidFill>
            <a:srgbClr val="D8D4D4"/>
          </a:solidFill>
          <a:ln/>
        </p:spPr>
      </p:sp>
      <p:sp>
        <p:nvSpPr>
          <p:cNvPr id="26" name="Shape 24"/>
          <p:cNvSpPr/>
          <p:nvPr/>
        </p:nvSpPr>
        <p:spPr>
          <a:xfrm>
            <a:off x="7125414" y="5406271"/>
            <a:ext cx="379571" cy="37957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7188696" y="5437942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4363045" y="5464254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Phase 5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93790" y="5813703"/>
            <a:ext cx="5677972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Continuous Monitoring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46798" y="7136249"/>
            <a:ext cx="12789813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Leadership commitment is critical.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93790" y="6975038"/>
            <a:ext cx="22860" cy="572095"/>
          </a:xfrm>
          <a:prstGeom prst="rect">
            <a:avLst/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134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Governance Dashboard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248257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Board dashboard should include: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2868454"/>
            <a:ext cx="3111937" cy="1810703"/>
          </a:xfrm>
          <a:prstGeom prst="roundRect">
            <a:avLst>
              <a:gd name="adj" fmla="val 1644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992148" y="306681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2150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9" y="3230404"/>
            <a:ext cx="267891" cy="2678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2148" y="386048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Risk heatmap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4104084" y="2868454"/>
            <a:ext cx="3111937" cy="1810703"/>
          </a:xfrm>
          <a:prstGeom prst="roundRect">
            <a:avLst>
              <a:gd name="adj" fmla="val 1644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4302443" y="306681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2150F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6153" y="3230404"/>
            <a:ext cx="267891" cy="2678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02443" y="386048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Compliance status</a:t>
            </a:r>
            <a:endParaRPr lang="en-US" sz="1950" dirty="0"/>
          </a:p>
        </p:txBody>
      </p:sp>
      <p:sp>
        <p:nvSpPr>
          <p:cNvPr id="12" name="Shape 8"/>
          <p:cNvSpPr/>
          <p:nvPr/>
        </p:nvSpPr>
        <p:spPr>
          <a:xfrm>
            <a:off x="7414379" y="2868454"/>
            <a:ext cx="3111937" cy="1810703"/>
          </a:xfrm>
          <a:prstGeom prst="roundRect">
            <a:avLst>
              <a:gd name="adj" fmla="val 1644"/>
            </a:avLst>
          </a:prstGeom>
          <a:solidFill>
            <a:srgbClr val="F2EEEE"/>
          </a:solidFill>
          <a:ln/>
        </p:spPr>
      </p:sp>
      <p:sp>
        <p:nvSpPr>
          <p:cNvPr id="13" name="Shape 9"/>
          <p:cNvSpPr/>
          <p:nvPr/>
        </p:nvSpPr>
        <p:spPr>
          <a:xfrm>
            <a:off x="7612737" y="306681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2150F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6448" y="3230404"/>
            <a:ext cx="267891" cy="2678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12737" y="386048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Ethics reports</a:t>
            </a:r>
            <a:endParaRPr lang="en-US" sz="1950" dirty="0"/>
          </a:p>
        </p:txBody>
      </p:sp>
      <p:sp>
        <p:nvSpPr>
          <p:cNvPr id="16" name="Shape 11"/>
          <p:cNvSpPr/>
          <p:nvPr/>
        </p:nvSpPr>
        <p:spPr>
          <a:xfrm>
            <a:off x="10724674" y="2868454"/>
            <a:ext cx="3111937" cy="1810703"/>
          </a:xfrm>
          <a:prstGeom prst="roundRect">
            <a:avLst>
              <a:gd name="adj" fmla="val 1644"/>
            </a:avLst>
          </a:prstGeom>
          <a:solidFill>
            <a:srgbClr val="F2EEEE"/>
          </a:solidFill>
          <a:ln/>
        </p:spPr>
      </p:sp>
      <p:sp>
        <p:nvSpPr>
          <p:cNvPr id="17" name="Shape 12"/>
          <p:cNvSpPr/>
          <p:nvPr/>
        </p:nvSpPr>
        <p:spPr>
          <a:xfrm>
            <a:off x="10923032" y="306681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2150F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86743" y="3230404"/>
            <a:ext cx="267891" cy="2678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23032" y="3860483"/>
            <a:ext cx="271522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Stakeholder engagement metrics</a:t>
            </a:r>
            <a:endParaRPr lang="en-US" sz="1950" dirty="0"/>
          </a:p>
        </p:txBody>
      </p:sp>
      <p:sp>
        <p:nvSpPr>
          <p:cNvPr id="20" name="Shape 14"/>
          <p:cNvSpPr/>
          <p:nvPr/>
        </p:nvSpPr>
        <p:spPr>
          <a:xfrm>
            <a:off x="793790" y="4877514"/>
            <a:ext cx="6422231" cy="1500545"/>
          </a:xfrm>
          <a:prstGeom prst="roundRect">
            <a:avLst>
              <a:gd name="adj" fmla="val 1984"/>
            </a:avLst>
          </a:prstGeom>
          <a:solidFill>
            <a:srgbClr val="F2EEEE"/>
          </a:solidFill>
          <a:ln/>
        </p:spPr>
      </p:sp>
      <p:sp>
        <p:nvSpPr>
          <p:cNvPr id="21" name="Shape 15"/>
          <p:cNvSpPr/>
          <p:nvPr/>
        </p:nvSpPr>
        <p:spPr>
          <a:xfrm>
            <a:off x="992148" y="507587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2150F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5859" y="5239464"/>
            <a:ext cx="267891" cy="26789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92148" y="586954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Assurance findings</a:t>
            </a:r>
            <a:endParaRPr lang="en-US" sz="1950" dirty="0"/>
          </a:p>
        </p:txBody>
      </p:sp>
      <p:sp>
        <p:nvSpPr>
          <p:cNvPr id="24" name="Shape 17"/>
          <p:cNvSpPr/>
          <p:nvPr/>
        </p:nvSpPr>
        <p:spPr>
          <a:xfrm>
            <a:off x="7414379" y="4877514"/>
            <a:ext cx="6422231" cy="1500545"/>
          </a:xfrm>
          <a:prstGeom prst="roundRect">
            <a:avLst>
              <a:gd name="adj" fmla="val 1984"/>
            </a:avLst>
          </a:prstGeom>
          <a:solidFill>
            <a:srgbClr val="F2EEEE"/>
          </a:solidFill>
          <a:ln/>
        </p:spPr>
      </p:sp>
      <p:sp>
        <p:nvSpPr>
          <p:cNvPr id="25" name="Shape 18"/>
          <p:cNvSpPr/>
          <p:nvPr/>
        </p:nvSpPr>
        <p:spPr>
          <a:xfrm>
            <a:off x="7612737" y="507587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2150FE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76448" y="5239464"/>
            <a:ext cx="267891" cy="26789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612737" y="5869543"/>
            <a:ext cx="299668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Performance against strategy</a:t>
            </a:r>
            <a:endParaRPr lang="en-US" sz="1950" dirty="0"/>
          </a:p>
        </p:txBody>
      </p:sp>
      <p:sp>
        <p:nvSpPr>
          <p:cNvPr id="28" name="Text 20"/>
          <p:cNvSpPr/>
          <p:nvPr/>
        </p:nvSpPr>
        <p:spPr>
          <a:xfrm>
            <a:off x="793790" y="6601301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Dashboards support informed oversight.</a:t>
            </a:r>
            <a:endParaRPr lang="en-US" sz="1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503" y="547926"/>
            <a:ext cx="3947517" cy="49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Next Steps &amp; Actions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89503" y="1292662"/>
            <a:ext cx="1305139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Immediate actions: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89503" y="1717358"/>
            <a:ext cx="631508" cy="947380"/>
          </a:xfrm>
          <a:prstGeom prst="roundRect">
            <a:avLst>
              <a:gd name="adj" fmla="val 360058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986790" y="2042993"/>
            <a:ext cx="236815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546622" y="1875234"/>
            <a:ext cx="2370058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Conduct King IV gap analysis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89503" y="2790349"/>
            <a:ext cx="631508" cy="947380"/>
          </a:xfrm>
          <a:prstGeom prst="roundRect">
            <a:avLst>
              <a:gd name="adj" fmla="val 36005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986790" y="3115985"/>
            <a:ext cx="236815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546622" y="2948226"/>
            <a:ext cx="2173724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Review board composition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89503" y="3863340"/>
            <a:ext cx="631508" cy="947380"/>
          </a:xfrm>
          <a:prstGeom prst="roundRect">
            <a:avLst>
              <a:gd name="adj" fmla="val 36005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986790" y="4188976"/>
            <a:ext cx="236815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546622" y="4021217"/>
            <a:ext cx="197369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Define risk appetite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89503" y="4936331"/>
            <a:ext cx="631508" cy="947380"/>
          </a:xfrm>
          <a:prstGeom prst="roundRect">
            <a:avLst>
              <a:gd name="adj" fmla="val 36005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986790" y="5261967"/>
            <a:ext cx="236815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1546622" y="5094208"/>
            <a:ext cx="223146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Update committee charters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89503" y="6009322"/>
            <a:ext cx="631508" cy="947380"/>
          </a:xfrm>
          <a:prstGeom prst="roundRect">
            <a:avLst>
              <a:gd name="adj" fmla="val 360058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986790" y="6334958"/>
            <a:ext cx="236815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1546622" y="6167199"/>
            <a:ext cx="2618780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Strengthen combined assurance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89503" y="7097911"/>
            <a:ext cx="13051393" cy="583644"/>
          </a:xfrm>
          <a:prstGeom prst="roundRect">
            <a:avLst>
              <a:gd name="adj" fmla="val 4058"/>
            </a:avLst>
          </a:prstGeom>
          <a:solidFill>
            <a:srgbClr val="B3C3FF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80" y="7316986"/>
            <a:ext cx="197287" cy="15787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02544" y="7262932"/>
            <a:ext cx="12380476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Assign accountable owners.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3025140"/>
            <a:ext cx="726400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3092291"/>
            <a:ext cx="47303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LEGAL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349281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Property Notice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4410551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presentation is the intellectual property of </a:t>
            </a:r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Phumi Mhlongo</a:t>
            </a:r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</a:t>
            </a:r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Nozipho Memela</a:t>
            </a:r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All rights reserved. Unauthorized reproduction, redistribution, or commercial use is prohibited without prior written consent.</a:t>
            </a:r>
            <a:endParaRPr lang="en-US" sz="1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3025140"/>
            <a:ext cx="726400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3092291"/>
            <a:ext cx="47303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LEGAL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349281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Disclaimer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4410551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material is provided for educational and professional purposes only. Organizations must apply independent professional judgment when implementing King IV within their specific regulatory and governance environment.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2026-02-27T05:15:28Z</dcterms:created>
  <dcterms:modified xsi:type="dcterms:W3CDTF">2026-02-27T05:15:28Z</dcterms:modified>
</cp:coreProperties>
</file>